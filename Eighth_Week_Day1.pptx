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40" r:id="rId3"/>
    <p:sldId id="367" r:id="rId4"/>
    <p:sldId id="366" r:id="rId5"/>
    <p:sldId id="335" r:id="rId6"/>
    <p:sldId id="369" r:id="rId7"/>
    <p:sldId id="405" r:id="rId8"/>
    <p:sldId id="368" r:id="rId9"/>
    <p:sldId id="386" r:id="rId10"/>
    <p:sldId id="370" r:id="rId11"/>
    <p:sldId id="371" r:id="rId12"/>
    <p:sldId id="373" r:id="rId13"/>
    <p:sldId id="387" r:id="rId14"/>
    <p:sldId id="388" r:id="rId15"/>
    <p:sldId id="389" r:id="rId16"/>
    <p:sldId id="390" r:id="rId17"/>
    <p:sldId id="391" r:id="rId18"/>
    <p:sldId id="392" r:id="rId19"/>
    <p:sldId id="372" r:id="rId20"/>
    <p:sldId id="374" r:id="rId21"/>
    <p:sldId id="375" r:id="rId22"/>
    <p:sldId id="376" r:id="rId23"/>
    <p:sldId id="377" r:id="rId24"/>
    <p:sldId id="381" r:id="rId25"/>
    <p:sldId id="382" r:id="rId26"/>
    <p:sldId id="383" r:id="rId27"/>
    <p:sldId id="384" r:id="rId28"/>
    <p:sldId id="385" r:id="rId29"/>
    <p:sldId id="393" r:id="rId30"/>
    <p:sldId id="394" r:id="rId31"/>
    <p:sldId id="395" r:id="rId32"/>
    <p:sldId id="397" r:id="rId33"/>
    <p:sldId id="400" r:id="rId34"/>
    <p:sldId id="398" r:id="rId35"/>
    <p:sldId id="399" r:id="rId36"/>
    <p:sldId id="401" r:id="rId37"/>
    <p:sldId id="402" r:id="rId38"/>
    <p:sldId id="403" r:id="rId39"/>
    <p:sldId id="404" r:id="rId40"/>
    <p:sldId id="396" r:id="rId41"/>
    <p:sldId id="32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oti Kataria" initials="JK" lastIdx="1" clrIdx="0">
    <p:extLst>
      <p:ext uri="{19B8F6BF-5375-455C-9EA6-DF929625EA0E}">
        <p15:presenceInfo xmlns:p15="http://schemas.microsoft.com/office/powerpoint/2012/main" userId="S-1-5-21-1000597119-414398723-735167959-204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7FAB-7BA6-480D-A02A-8C9C816EC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CA13D-4D88-4695-9853-B54C167B2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A8F97-5702-49C1-996C-77EE3AC3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5B2F8-B0CE-4842-9479-F94F3BCFC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7D7FF-74D7-411B-AD35-C2F24D63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07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887A-EE3E-46F6-95E5-021BE645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9D29-6188-4884-8B92-99A76D4A4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62504-A56E-44A8-9B3B-A3490646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312B5-034A-49D5-896B-A358B7EE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4852-BAF3-4079-A6BE-949ABF5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6F75-A8B9-4274-B141-3273482E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E546B-042F-48E6-83B2-36A45D7C6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1FAEE-D09E-47A9-9811-A9A1D0635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4A4-DC1F-41C6-B17D-24249C0B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E1D10-DF14-44F6-B688-465141EB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365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18B9-365A-440C-AD89-37556677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5FCE-DCF0-4C4A-9D22-3186D6012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6118E-CB86-4E41-A71A-CF632F8BC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02EE5-79B9-4849-9E71-985FE021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A5434-D4D5-4352-ADD5-EC33B752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1BF3D-0A77-4112-B577-E98EFAD0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59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83F1F-1FE1-4AFB-8CA1-09F2A6C5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5A2FA-B148-493B-998D-FE7B6A92A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A6B4-1F89-4BC3-AF67-68AE9B573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9798C-C183-46A0-AA5E-CC1FC2E3D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7AEA3-7A57-4FC5-9FEC-F893C36FA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6ECEFE-DA0A-4A18-887D-164990B3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E824C-63FC-4C3C-804D-CE6B8C6D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A016A-6702-4D4C-85D0-338C83F4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67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3434-8CB4-44A5-A4B3-FE19AF6D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6A5B0-29B4-4BBE-A429-1E471F08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EFE7E-5EDB-4440-9014-50CD9132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DBB35-7BBE-47B4-8AF7-169325F3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678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FA331-E0E3-4CDC-A6B0-C84B082B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2FA3C-814B-4526-8386-6BA453FD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958AB-D53C-4D89-9FBC-FC5F1BFB3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885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8593-8644-44CB-952D-F828CB56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6728-CA6C-4D02-8FBB-B67B57AD7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8AC46-98CA-4C95-B3CC-415BF95EA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0CEF9-EDDE-4BA0-A412-DD7A262C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463B4-4200-45A7-BC5E-78F63E29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FA546-51CB-4ADB-8977-6313E82B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912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D1F85-F148-418A-9E48-7054012A6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E38C77-4630-4632-8CFD-94B37BD21D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45E4A-EE04-4095-81DE-C12FE3B02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51911-C33F-4568-B7C5-870D00F9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78273-CB22-4358-B2E9-4023656F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167C1-ED34-4DCA-A207-5EAE8615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47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107A-12FD-40E3-91E6-5C776F44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08CA2-7C44-44CF-9D61-416BBA4A1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DCC61-A71A-4321-9A46-BB44B4A0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C5DEE-4E89-42BF-920F-598C976F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D994-99C3-4A51-A139-77523E71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0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DCEF8-416C-4D22-86D2-BF848AF74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B76F3-04B7-47CD-A40E-C849B6AB9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C87ED-ABEF-4569-8479-07CEBD89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2BAFB-8F9C-4F2B-A4C1-D91C1EDF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B53C2-5933-4FBE-B265-313DB8B5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16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42475-DAFF-4FF3-A241-D58F8430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2F21C-59D8-4F2E-BC77-128C7150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B296B-77D4-439C-A288-8E7844BFA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5F017-2B8F-4C20-8776-6733081F1DE8}" type="datetimeFigureOut">
              <a:rPr lang="en-IN" smtClean="0"/>
              <a:t>19-03-2021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3578A-290E-41CD-9669-84EB9A8A3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7D94-366F-4B2C-A741-F26A54AA3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B7F65-59CF-4BA3-A538-41E7E3B21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7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1CD5-4C7E-4D8D-8E7C-71795565AB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: </a:t>
            </a:r>
            <a:br>
              <a:rPr lang="en-US" dirty="0"/>
            </a:br>
            <a:r>
              <a:rPr lang="en-US" dirty="0"/>
              <a:t>Data Science &amp; Machine Learning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47AB8-663A-4371-AF35-3510B09C33F7}"/>
              </a:ext>
            </a:extLst>
          </p:cNvPr>
          <p:cNvSpPr txBox="1"/>
          <p:nvPr/>
        </p:nvSpPr>
        <p:spPr>
          <a:xfrm>
            <a:off x="2548329" y="4465246"/>
            <a:ext cx="9788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Session 8 : Deep Learning and Neural Networks  </a:t>
            </a:r>
            <a:endParaRPr lang="en-IN" sz="2800" b="1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B55F8AC-83C6-43AB-BD34-D3AB24931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1407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66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FF30-02EB-4980-B987-11500BD9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recap!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2477-D763-44B0-AF85-AF6BF3295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: History</a:t>
            </a:r>
          </a:p>
          <a:p>
            <a:r>
              <a:rPr lang="en-US" dirty="0"/>
              <a:t>Why it became a hype after so long?</a:t>
            </a:r>
          </a:p>
          <a:p>
            <a:r>
              <a:rPr lang="en-US" dirty="0"/>
              <a:t>Artificial Neural Network : Perceptron</a:t>
            </a:r>
          </a:p>
          <a:p>
            <a:r>
              <a:rPr lang="en-US" dirty="0"/>
              <a:t>Neuron</a:t>
            </a:r>
          </a:p>
          <a:p>
            <a:r>
              <a:rPr lang="en-US" dirty="0"/>
              <a:t>Two Layered ANN</a:t>
            </a:r>
          </a:p>
          <a:p>
            <a:r>
              <a:rPr lang="en-US" dirty="0"/>
              <a:t>Back Propagation</a:t>
            </a:r>
          </a:p>
          <a:p>
            <a:r>
              <a:rPr lang="en-US" dirty="0"/>
              <a:t>Big Data Fundamentals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95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A8F05-A971-4610-8F3E-9E3B43D7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7804-841D-491E-B6E0-056D0CD96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  <a:p>
            <a:r>
              <a:rPr lang="en-US" dirty="0" err="1"/>
              <a:t>Keras</a:t>
            </a:r>
            <a:endParaRPr lang="en-US" dirty="0"/>
          </a:p>
          <a:p>
            <a:r>
              <a:rPr lang="en-US" dirty="0"/>
              <a:t>RNN</a:t>
            </a:r>
          </a:p>
          <a:p>
            <a:r>
              <a:rPr lang="en-US" dirty="0"/>
              <a:t>Important terminology and concepts</a:t>
            </a:r>
          </a:p>
          <a:p>
            <a:r>
              <a:rPr lang="en-US" dirty="0"/>
              <a:t> - Boosting</a:t>
            </a:r>
          </a:p>
          <a:p>
            <a:r>
              <a:rPr lang="en-US" dirty="0"/>
              <a:t> - Bagging</a:t>
            </a:r>
          </a:p>
          <a:p>
            <a:r>
              <a:rPr lang="en-US" dirty="0"/>
              <a:t> - Bias &amp; Variance</a:t>
            </a:r>
          </a:p>
          <a:p>
            <a:r>
              <a:rPr lang="en-US" dirty="0"/>
              <a:t>Python Session with </a:t>
            </a:r>
            <a:r>
              <a:rPr lang="en-US" dirty="0" err="1"/>
              <a:t>Keras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18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85104DB-E864-4D01-9F81-141AF5411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EF467F-14DB-42D1-94AF-693E5B17E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667" y="1918740"/>
            <a:ext cx="442231" cy="104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32E05-287E-4C39-8686-CCD7F239F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25416"/>
            <a:ext cx="10905066" cy="52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60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94BF-AE30-4500-A649-1164869F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– Convolutional Neural Network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B36D1-CBA2-4F83-9CA8-C9788D02C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i="0" dirty="0">
                <a:effectLst/>
              </a:rPr>
              <a:t>Deep Learning algorithm which can take in an input image, assign importance (learnable weights and biases) to various aspects/objects in the image and be able to differentiate one from the other.</a:t>
            </a:r>
          </a:p>
          <a:p>
            <a:endParaRPr lang="en-US" dirty="0"/>
          </a:p>
          <a:p>
            <a:r>
              <a:rPr lang="en-US" b="0" i="0" dirty="0">
                <a:effectLst/>
              </a:rPr>
              <a:t>Specialized for 2-D images.</a:t>
            </a:r>
          </a:p>
          <a:p>
            <a:endParaRPr lang="en-US" dirty="0"/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dirty="0"/>
              <a:t>CNN apply filters to</a:t>
            </a:r>
            <a:r>
              <a:rPr lang="en-US" b="0" i="0" dirty="0">
                <a:effectLst/>
              </a:rPr>
              <a:t> create a </a:t>
            </a:r>
            <a:r>
              <a:rPr lang="en-US" b="1" i="0" dirty="0">
                <a:effectLst/>
              </a:rPr>
              <a:t>feature map </a:t>
            </a:r>
            <a:r>
              <a:rPr lang="en-US" b="0" i="0" dirty="0">
                <a:effectLst/>
              </a:rPr>
              <a:t>that summarizes the presence of detected features in the input.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Filters can be handcrafted, such as line detectors but the innovation of convolutional neural networks is to learn the filters during training in the context of a specific prediction problem.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i="0" dirty="0">
                <a:effectLst/>
              </a:rPr>
              <a:t>So,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ConvNets</a:t>
            </a:r>
            <a:r>
              <a:rPr lang="en-US" b="0" i="0" dirty="0">
                <a:effectLst/>
              </a:rPr>
              <a:t> have the ability to learn these filters/characteristics.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65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83378-B115-415B-9143-E193FB7F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CNN - Intuition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BA5697-B826-44DB-900E-1D6A9DAF0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2021" y="2427541"/>
            <a:ext cx="9632858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03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1EEB-E03F-457E-A2D2-C3C9A982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67CBF-BD77-467A-9873-D39D1CC88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 Level neural network API, written in python</a:t>
            </a:r>
          </a:p>
          <a:p>
            <a:endParaRPr lang="en-US" dirty="0"/>
          </a:p>
          <a:p>
            <a:r>
              <a:rPr lang="en-IN" dirty="0"/>
              <a:t>Easy and fast prototyping</a:t>
            </a:r>
          </a:p>
          <a:p>
            <a:endParaRPr lang="en-IN" dirty="0"/>
          </a:p>
          <a:p>
            <a:r>
              <a:rPr lang="en-IN" dirty="0"/>
              <a:t>Supports both CNN and RNN and combination also</a:t>
            </a:r>
          </a:p>
          <a:p>
            <a:endParaRPr lang="en-IN" dirty="0"/>
          </a:p>
          <a:p>
            <a:r>
              <a:rPr lang="en-IN" dirty="0"/>
              <a:t>Runs on both CPU and GPU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Reference</a:t>
            </a:r>
          </a:p>
          <a:p>
            <a:pPr marL="0" indent="0">
              <a:buNone/>
            </a:pPr>
            <a:r>
              <a:rPr lang="en-IN" dirty="0"/>
              <a:t>https://keras.io/guides/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462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99C5CB-0686-4866-A4AA-C9164115D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479719"/>
            <a:ext cx="10905066" cy="3898560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9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BAF1-004D-457C-825C-C0137122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in </a:t>
            </a:r>
            <a:r>
              <a:rPr lang="en-US" dirty="0" err="1"/>
              <a:t>Keras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B8CA6-8CA3-4CDB-83F2-BEE0CA68C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ways of composing models in </a:t>
            </a:r>
            <a:r>
              <a:rPr lang="en-US" dirty="0" err="1"/>
              <a:t>Keras</a:t>
            </a:r>
            <a:r>
              <a:rPr lang="en-US" dirty="0"/>
              <a:t>:-</a:t>
            </a:r>
          </a:p>
          <a:p>
            <a:endParaRPr lang="en-US" dirty="0"/>
          </a:p>
          <a:p>
            <a:r>
              <a:rPr lang="en-US" dirty="0"/>
              <a:t>Sequential Model</a:t>
            </a:r>
          </a:p>
          <a:p>
            <a:endParaRPr lang="en-US" dirty="0"/>
          </a:p>
          <a:p>
            <a:r>
              <a:rPr lang="en-US" dirty="0"/>
              <a:t>Functional Model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6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AAFB-1E3B-42B2-B379-78F718FF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242C13-A820-41F5-86D5-6730DF902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21" y="696515"/>
            <a:ext cx="11833358" cy="5464969"/>
          </a:xfrm>
        </p:spPr>
      </p:pic>
    </p:spTree>
    <p:extLst>
      <p:ext uri="{BB962C8B-B14F-4D97-AF65-F5344CB8AC3E}">
        <p14:creationId xmlns:p14="http://schemas.microsoft.com/office/powerpoint/2010/main" val="15309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C9775-BE90-4AD4-991D-CFDEE6F1B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Functional Composition</a:t>
            </a:r>
          </a:p>
        </p:txBody>
      </p:sp>
      <p:pic>
        <p:nvPicPr>
          <p:cNvPr id="5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EEED0D03-93B5-4666-AB85-CADA65BB3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44" y="2005011"/>
            <a:ext cx="9060204" cy="4394199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730C248D-59A9-4106-B9F3-7C9B283C1A35}"/>
              </a:ext>
            </a:extLst>
          </p:cNvPr>
          <p:cNvSpPr/>
          <p:nvPr/>
        </p:nvSpPr>
        <p:spPr>
          <a:xfrm rot="3187605">
            <a:off x="6687387" y="1664740"/>
            <a:ext cx="357998" cy="1057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902F166-4731-4F29-A805-10391C38D8A0}"/>
              </a:ext>
            </a:extLst>
          </p:cNvPr>
          <p:cNvSpPr/>
          <p:nvPr/>
        </p:nvSpPr>
        <p:spPr>
          <a:xfrm rot="20394899">
            <a:off x="3332088" y="1476124"/>
            <a:ext cx="357998" cy="1057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40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D6EE4-4040-47E8-8D2F-D23966E0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RNN </a:t>
            </a:r>
          </a:p>
        </p:txBody>
      </p:sp>
      <p:pic>
        <p:nvPicPr>
          <p:cNvPr id="5" name="Content Placeholder 4" descr="Graphical user interface, diagram&#10;&#10;Description automatically generated with medium confidence">
            <a:extLst>
              <a:ext uri="{FF2B5EF4-FFF2-40B4-BE49-F238E27FC236}">
                <a16:creationId xmlns:a16="http://schemas.microsoft.com/office/drawing/2014/main" id="{1F931115-61CF-49D9-B982-6D162571F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325" y="1396588"/>
            <a:ext cx="9646195" cy="516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8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CAA2F-94FB-4690-B897-9C9AC15A1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RNN used?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AF2A4-56F1-4E11-8286-D2F789311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087" y="1690688"/>
            <a:ext cx="11627826" cy="4239980"/>
          </a:xfrm>
        </p:spPr>
      </p:pic>
    </p:spTree>
    <p:extLst>
      <p:ext uri="{BB962C8B-B14F-4D97-AF65-F5344CB8AC3E}">
        <p14:creationId xmlns:p14="http://schemas.microsoft.com/office/powerpoint/2010/main" val="1203258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8B751A-4DDA-4D84-A9DE-80C2EF1C2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5942" y="2710476"/>
            <a:ext cx="7640116" cy="258163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386E061-AE0B-4ECD-944A-DC26DADC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RNN used?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06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B544-7AC3-4686-B864-7E90F7EC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- Intuition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A92043-D9E0-44CE-8986-7092C588A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336" y="1690688"/>
            <a:ext cx="9725327" cy="4545220"/>
          </a:xfrm>
        </p:spPr>
      </p:pic>
    </p:spTree>
    <p:extLst>
      <p:ext uri="{BB962C8B-B14F-4D97-AF65-F5344CB8AC3E}">
        <p14:creationId xmlns:p14="http://schemas.microsoft.com/office/powerpoint/2010/main" val="3837134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02A1A-CD98-471C-9848-64BE38EA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RNN - Intuition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6EC80D-DF3A-40E7-A631-A04E6291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280" y="1675227"/>
            <a:ext cx="981943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83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233D8-6CAC-4C1E-8F2D-FA017C65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RNN - Intuition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748EBF-DB11-4ACC-895D-FCC8A8724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6162" y="643466"/>
            <a:ext cx="6323007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91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2AA61-A2A3-46AC-AE13-631797E8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A5ABF-A671-4AA0-B157-9DA89851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 enhancement technique used for regression and classification problems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5E060-8659-455C-A467-BBDBDA1CA8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52"/>
          <a:stretch/>
        </p:blipFill>
        <p:spPr>
          <a:xfrm>
            <a:off x="1209104" y="2773176"/>
            <a:ext cx="4067433" cy="3179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F504D-2CBD-4471-804F-254697694642}"/>
              </a:ext>
            </a:extLst>
          </p:cNvPr>
          <p:cNvSpPr txBox="1"/>
          <p:nvPr/>
        </p:nvSpPr>
        <p:spPr>
          <a:xfrm>
            <a:off x="6715593" y="2473377"/>
            <a:ext cx="44601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Base Model; Mean = 75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Compute residuals; errors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Decision Tree; Inputs – </a:t>
            </a:r>
            <a:r>
              <a:rPr lang="en-US" dirty="0" err="1"/>
              <a:t>Degree;Exp</a:t>
            </a:r>
            <a:endParaRPr lang="en-US" dirty="0"/>
          </a:p>
          <a:p>
            <a:r>
              <a:rPr lang="en-US" dirty="0"/>
              <a:t>                                Outputs- Error</a:t>
            </a:r>
          </a:p>
          <a:p>
            <a:endParaRPr lang="en-US" dirty="0"/>
          </a:p>
          <a:p>
            <a:pPr marL="342900" indent="-342900">
              <a:buAutoNum type="arabicPeriod" startAt="4"/>
            </a:pPr>
            <a:r>
              <a:rPr lang="en-US" dirty="0"/>
              <a:t>Check for errors again and tries to reduce </a:t>
            </a:r>
          </a:p>
          <a:p>
            <a:r>
              <a:rPr lang="en-US" dirty="0"/>
              <a:t>       cost function</a:t>
            </a:r>
          </a:p>
          <a:p>
            <a:pPr marL="342900" indent="-342900">
              <a:buAutoNum type="arabicPeriod" startAt="4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DF374-C372-4551-9925-7D808B2F13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36"/>
          <a:stretch/>
        </p:blipFill>
        <p:spPr>
          <a:xfrm>
            <a:off x="4260953" y="3042868"/>
            <a:ext cx="1391486" cy="290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4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2691-0406-4A36-A166-87474693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(Bootstrap Aggregation)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A8D14-3D54-4EE6-8530-432229EAC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Ensemble Technique</a:t>
            </a:r>
          </a:p>
          <a:p>
            <a:endParaRPr lang="en-US" dirty="0"/>
          </a:p>
          <a:p>
            <a:r>
              <a:rPr lang="en-IN" dirty="0"/>
              <a:t>Row sampling with replacement</a:t>
            </a:r>
          </a:p>
          <a:p>
            <a:endParaRPr lang="en-IN" dirty="0"/>
          </a:p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This statistical technique consists in generating samples of size B (called bootstrap samples) from an initial dataset of size N by randomly drawing with replacement B observations.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470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54EE21-0273-4798-A30B-B6CC7EF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Bagging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535AA6-B887-4D60-A37D-CCF805183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554" y="643466"/>
            <a:ext cx="659022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50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04C49-60E8-4B4A-A80A-B5F11727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Bias and Variance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A0F9FA1B-F4F5-48B2-AFD9-0944C3C2D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69831"/>
            <a:ext cx="6780700" cy="4916008"/>
          </a:xfrm>
          <a:prstGeom prst="rect">
            <a:avLst/>
          </a:prstGeom>
        </p:spPr>
      </p:pic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18332CB9-7DE1-4599-B8F5-936682CF84E3}"/>
              </a:ext>
            </a:extLst>
          </p:cNvPr>
          <p:cNvSpPr/>
          <p:nvPr/>
        </p:nvSpPr>
        <p:spPr>
          <a:xfrm>
            <a:off x="8274570" y="4892778"/>
            <a:ext cx="299804" cy="3088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80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09FE-6DAC-415B-80D8-6B58BDFE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5085"/>
            <a:ext cx="11353800" cy="1268803"/>
          </a:xfrm>
        </p:spPr>
        <p:txBody>
          <a:bodyPr/>
          <a:lstStyle/>
          <a:p>
            <a:r>
              <a:rPr lang="en-US" dirty="0"/>
              <a:t>Lets divide the data into training and test data set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2DC53-FEFC-4265-98EC-2C8F973DAC98}"/>
              </a:ext>
            </a:extLst>
          </p:cNvPr>
          <p:cNvSpPr txBox="1"/>
          <p:nvPr/>
        </p:nvSpPr>
        <p:spPr>
          <a:xfrm>
            <a:off x="7639983" y="3159538"/>
            <a:ext cx="2613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Blue = Train Data set</a:t>
            </a:r>
          </a:p>
          <a:p>
            <a:r>
              <a:rPr lang="en-US" sz="2000" b="1" dirty="0"/>
              <a:t>Green = Test Data set</a:t>
            </a:r>
            <a:endParaRPr lang="en-IN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C90D0-7A33-4EBE-BF2A-7A95D931E2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841"/>
          <a:stretch/>
        </p:blipFill>
        <p:spPr>
          <a:xfrm>
            <a:off x="649184" y="1831418"/>
            <a:ext cx="6125134" cy="342587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A37B2A0-39C0-4827-9263-BC4E9E3A43A2}"/>
              </a:ext>
            </a:extLst>
          </p:cNvPr>
          <p:cNvSpPr/>
          <p:nvPr/>
        </p:nvSpPr>
        <p:spPr>
          <a:xfrm>
            <a:off x="3897443" y="1831164"/>
            <a:ext cx="1633927" cy="548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756E17-C97F-421D-ADA7-06BC1346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968440"/>
            <a:ext cx="6726288" cy="370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95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FB81CA-FF94-4192-8598-71A8B0271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8231" y="1963437"/>
            <a:ext cx="4972744" cy="353426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FB10B79-5A95-42FB-81AE-DF970FF5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Bias (contd..)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D5B1AA-5E8F-449D-85C5-4505390AD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9557"/>
            <a:ext cx="4524995" cy="3238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ACE0AC-80D2-41A4-8B54-A0CBF5C63A1E}"/>
              </a:ext>
            </a:extLst>
          </p:cNvPr>
          <p:cNvSpPr txBox="1"/>
          <p:nvPr/>
        </p:nvSpPr>
        <p:spPr>
          <a:xfrm>
            <a:off x="973867" y="5484253"/>
            <a:ext cx="10679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inability for a machine learning algorithm to capture the true relationship is called </a:t>
            </a:r>
            <a:r>
              <a:rPr lang="en-US" sz="2800" b="1" dirty="0"/>
              <a:t>Bias.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00545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D010A4-5791-497B-8447-E1C0B2781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32"/>
          <a:stretch/>
        </p:blipFill>
        <p:spPr>
          <a:xfrm>
            <a:off x="959370" y="1690688"/>
            <a:ext cx="9249438" cy="4170466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71C81C2-5EDD-40C4-9851-3AEAEBB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Calculating SSE (Sum of Squared Errors)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71752-04B8-444B-ABEF-0AE688E1BB8A}"/>
              </a:ext>
            </a:extLst>
          </p:cNvPr>
          <p:cNvSpPr txBox="1"/>
          <p:nvPr/>
        </p:nvSpPr>
        <p:spPr>
          <a:xfrm>
            <a:off x="7511369" y="4152276"/>
            <a:ext cx="208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Wins!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697145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EE4D-4498-48C8-B50F-525D88DE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- We also have a testing set!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E7C79-6EC7-474C-BC94-B07451F41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011643" cy="37152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5E0363-4B5E-415F-B2DA-D6191F97E9DB}"/>
              </a:ext>
            </a:extLst>
          </p:cNvPr>
          <p:cNvSpPr txBox="1"/>
          <p:nvPr/>
        </p:nvSpPr>
        <p:spPr>
          <a:xfrm>
            <a:off x="973867" y="5394313"/>
            <a:ext cx="10679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difference in fits between data sets is called </a:t>
            </a:r>
            <a:r>
              <a:rPr lang="en-US" sz="2800" b="1" dirty="0"/>
              <a:t>Variance.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06A78-78E3-43DA-8A1E-5DE52A37E5AB}"/>
              </a:ext>
            </a:extLst>
          </p:cNvPr>
          <p:cNvSpPr txBox="1"/>
          <p:nvPr/>
        </p:nvSpPr>
        <p:spPr>
          <a:xfrm>
            <a:off x="2834437" y="4152276"/>
            <a:ext cx="2083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Wins!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5673212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D2C70-0627-4889-AB36-52002648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Which ML algorithm to use when?</a:t>
            </a:r>
            <a:endParaRPr lang="en-IN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4B2BC-104B-41F2-8F62-24DA3FD9D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 err="1"/>
              <a:t>Usecase</a:t>
            </a:r>
            <a:r>
              <a:rPr lang="en-US" dirty="0"/>
              <a:t> – Classification/Regression</a:t>
            </a:r>
          </a:p>
          <a:p>
            <a:r>
              <a:rPr lang="en-US" dirty="0"/>
              <a:t>Dataset</a:t>
            </a:r>
          </a:p>
          <a:p>
            <a:r>
              <a:rPr lang="en-US" dirty="0"/>
              <a:t>Classification – Logistic Regression, DT, Random Forest, </a:t>
            </a:r>
            <a:r>
              <a:rPr lang="en-US" dirty="0" err="1"/>
              <a:t>xg</a:t>
            </a:r>
            <a:r>
              <a:rPr lang="en-US" dirty="0"/>
              <a:t> boost etc.</a:t>
            </a:r>
          </a:p>
          <a:p>
            <a:pPr marL="0" indent="0">
              <a:buNone/>
            </a:pPr>
            <a:r>
              <a:rPr lang="en-US" dirty="0"/>
              <a:t>   Logistic Regression : basic, simple, less time </a:t>
            </a:r>
          </a:p>
          <a:p>
            <a:pPr marL="0" indent="0">
              <a:buNone/>
            </a:pPr>
            <a:r>
              <a:rPr lang="en-US" dirty="0"/>
              <a:t>   consuming</a:t>
            </a:r>
            <a:endParaRPr lang="en-IN" dirty="0"/>
          </a:p>
          <a:p>
            <a:r>
              <a:rPr lang="en-IN" dirty="0"/>
              <a:t>Visualization of data : seaborn plots, decide further</a:t>
            </a:r>
          </a:p>
          <a:p>
            <a:r>
              <a:rPr lang="en-IN" dirty="0"/>
              <a:t>Size of the data; imbalanced data 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158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DCCA-B02C-4F66-874E-870BCB20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Bi-variate </a:t>
            </a:r>
            <a:r>
              <a:rPr lang="en-US" dirty="0" err="1"/>
              <a:t>Pairplot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3C560C-60D5-4C1E-8F80-9EC54495D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5AE988-C8CA-4F92-B4C5-031F020D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983593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01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ED253-F989-456B-96E0-5F8D0F89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Logistic Regression will work best here!</a:t>
            </a:r>
            <a:endParaRPr lang="en-IN" sz="32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897647-3B4B-40C8-B1B3-1AFE04D8A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51" y="3355130"/>
            <a:ext cx="3342508" cy="2790837"/>
          </a:xfrm>
        </p:spPr>
        <p:txBody>
          <a:bodyPr>
            <a:normAutofit/>
          </a:bodyPr>
          <a:lstStyle/>
          <a:p>
            <a:r>
              <a:rPr lang="en-US" sz="2400" dirty="0"/>
              <a:t>Why?</a:t>
            </a:r>
          </a:p>
          <a:p>
            <a:r>
              <a:rPr lang="en-US" sz="2400" dirty="0"/>
              <a:t>No overlapping</a:t>
            </a:r>
          </a:p>
          <a:p>
            <a:r>
              <a:rPr lang="en-US" sz="2400" dirty="0"/>
              <a:t>Linear classification problem</a:t>
            </a:r>
          </a:p>
          <a:p>
            <a:r>
              <a:rPr lang="en-US" sz="2400" dirty="0"/>
              <a:t>If overlapping what next?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44A042-3E1F-4CA2-AC6A-18C9A8C4D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102" y="1231060"/>
            <a:ext cx="6903723" cy="427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00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70413-DD89-402E-9C39-B171F962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 apply DT, RF and </a:t>
            </a:r>
            <a:r>
              <a:rPr lang="en-US" dirty="0" err="1"/>
              <a:t>kNN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7FC8-B83C-4661-BD80-8C70EDC7A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DT works good if the datapoints aren’t too overlapping, otherwise </a:t>
            </a:r>
            <a:r>
              <a:rPr lang="en-US" dirty="0" err="1"/>
              <a:t>kNN</a:t>
            </a:r>
            <a:endParaRPr lang="en-US" dirty="0"/>
          </a:p>
          <a:p>
            <a:endParaRPr lang="en-IN" dirty="0"/>
          </a:p>
          <a:p>
            <a:r>
              <a:rPr lang="en-IN" dirty="0"/>
              <a:t>Lets take another dataset!</a:t>
            </a:r>
          </a:p>
        </p:txBody>
      </p:sp>
    </p:spTree>
    <p:extLst>
      <p:ext uri="{BB962C8B-B14F-4D97-AF65-F5344CB8AC3E}">
        <p14:creationId xmlns:p14="http://schemas.microsoft.com/office/powerpoint/2010/main" val="4189293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2530-2C51-435D-90B7-8118CBBE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 should work best for this?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15AB89-080D-4DD3-8ADC-712B0D693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124" y="1930556"/>
            <a:ext cx="4609194" cy="4351338"/>
          </a:xfrm>
        </p:spPr>
      </p:pic>
    </p:spTree>
    <p:extLst>
      <p:ext uri="{BB962C8B-B14F-4D97-AF65-F5344CB8AC3E}">
        <p14:creationId xmlns:p14="http://schemas.microsoft.com/office/powerpoint/2010/main" val="813692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BC8C4-9E02-4FF5-BE64-82B7F4A3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Imbalanced Data 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48FF72-B95C-4CAF-BC4D-EC5D1976FD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004834"/>
            <a:ext cx="10905066" cy="373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09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BA835-D618-4D3C-9DB4-A5954252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Imbalanced Data 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7CF051-F691-49B8-8BD0-0530C793D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323" y="1675227"/>
            <a:ext cx="93993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27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5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A70DE-1C0F-4AF3-A320-B69D90A6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How to proceed with imbalanced dataset?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A8CFFF-022E-4376-82BA-5EB31A8A2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8673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0347220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17A0D-F69D-441A-B67B-4CE13D2D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to proceed with imbalanced dataset?</a:t>
            </a:r>
          </a:p>
        </p:txBody>
      </p:sp>
      <p:pic>
        <p:nvPicPr>
          <p:cNvPr id="5" name="Content Placeholder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0B144AE-C5AC-4F40-9CE5-928984F1F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439" y="1675227"/>
            <a:ext cx="7709121" cy="43941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4DA3B4-0DF8-459B-9877-D496AEA6DB71}"/>
              </a:ext>
            </a:extLst>
          </p:cNvPr>
          <p:cNvSpPr/>
          <p:nvPr/>
        </p:nvSpPr>
        <p:spPr>
          <a:xfrm>
            <a:off x="7779895" y="4826833"/>
            <a:ext cx="2863121" cy="1514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871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864A-B514-4A51-AC88-91EED535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How to proceed with imbalanced dataset?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A91E28-2E92-488C-B920-5B235609EC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193" y="1825625"/>
            <a:ext cx="7569613" cy="435133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2E323D-B882-4FD0-8BE1-4A969EF6E313}"/>
              </a:ext>
            </a:extLst>
          </p:cNvPr>
          <p:cNvSpPr/>
          <p:nvPr/>
        </p:nvSpPr>
        <p:spPr>
          <a:xfrm>
            <a:off x="7779895" y="4826833"/>
            <a:ext cx="2863121" cy="1514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1299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3A06-4E45-43B9-88ED-88382893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How to proceed with imbalanced dataset?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4E009C-995C-4C59-B7FC-DF41B0A41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3771" y="1897755"/>
            <a:ext cx="6926858" cy="4443084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E49A56-0F35-4D17-B5A8-97F6DC9A04B4}"/>
              </a:ext>
            </a:extLst>
          </p:cNvPr>
          <p:cNvSpPr/>
          <p:nvPr/>
        </p:nvSpPr>
        <p:spPr>
          <a:xfrm>
            <a:off x="7779895" y="4826833"/>
            <a:ext cx="2863121" cy="1514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541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884B-F607-4626-BD07-E5B9CEE1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How to proceed with imbalanced dataset?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CDA475-9A0A-4D40-8A94-E7BB23454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96"/>
          <a:stretch/>
        </p:blipFill>
        <p:spPr>
          <a:xfrm>
            <a:off x="1918741" y="2346616"/>
            <a:ext cx="7730580" cy="2874048"/>
          </a:xfrm>
        </p:spPr>
      </p:pic>
    </p:spTree>
    <p:extLst>
      <p:ext uri="{BB962C8B-B14F-4D97-AF65-F5344CB8AC3E}">
        <p14:creationId xmlns:p14="http://schemas.microsoft.com/office/powerpoint/2010/main" val="1843158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A072-E694-48EE-A685-531E162A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Imbalanced datasets examples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BACCE-392B-4E90-9FE6-5AD48BF42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8984" y="1500266"/>
            <a:ext cx="8454029" cy="466504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D01372-B4CE-4444-B9C0-37C7DFE051A5}"/>
              </a:ext>
            </a:extLst>
          </p:cNvPr>
          <p:cNvSpPr/>
          <p:nvPr/>
        </p:nvSpPr>
        <p:spPr>
          <a:xfrm>
            <a:off x="7779895" y="4826833"/>
            <a:ext cx="2863121" cy="15140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719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1BD6-192A-4BC1-9EE1-EC686400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ML Techniques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FC324-0A3F-4771-B753-4865CDFA8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761" y="1690688"/>
            <a:ext cx="9938478" cy="4746480"/>
          </a:xfrm>
        </p:spPr>
      </p:pic>
    </p:spTree>
    <p:extLst>
      <p:ext uri="{BB962C8B-B14F-4D97-AF65-F5344CB8AC3E}">
        <p14:creationId xmlns:p14="http://schemas.microsoft.com/office/powerpoint/2010/main" val="1853756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1154-E9F2-4909-9FB0-F219283B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0961A-0B63-439B-AAD2-5BD5DC68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2" y="2953065"/>
            <a:ext cx="10334469" cy="1709894"/>
          </a:xfrm>
        </p:spPr>
        <p:txBody>
          <a:bodyPr/>
          <a:lstStyle/>
          <a:p>
            <a:r>
              <a:rPr lang="en-US" dirty="0"/>
              <a:t>                                                     Thankyou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74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10365</TotalTime>
  <Words>577</Words>
  <Application>Microsoft Office PowerPoint</Application>
  <PresentationFormat>Widescreen</PresentationFormat>
  <Paragraphs>115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charter</vt:lpstr>
      <vt:lpstr>Office Theme</vt:lpstr>
      <vt:lpstr>Module :  Data Science &amp; Machine Learning</vt:lpstr>
      <vt:lpstr>Lets recap!</vt:lpstr>
      <vt:lpstr>Today’s Topics</vt:lpstr>
      <vt:lpstr>PowerPoint Presentation</vt:lpstr>
      <vt:lpstr>PowerPoint Presentation</vt:lpstr>
      <vt:lpstr>CNN – Convolutional Neural Network</vt:lpstr>
      <vt:lpstr>CNN - Intuition</vt:lpstr>
      <vt:lpstr>Keras</vt:lpstr>
      <vt:lpstr>PowerPoint Presentation</vt:lpstr>
      <vt:lpstr>Models in Keras</vt:lpstr>
      <vt:lpstr>PowerPoint Presentation</vt:lpstr>
      <vt:lpstr>Functional Composition</vt:lpstr>
      <vt:lpstr>RNN </vt:lpstr>
      <vt:lpstr>Why RNN used?</vt:lpstr>
      <vt:lpstr>Why RNN used?</vt:lpstr>
      <vt:lpstr>RNN - Intuition</vt:lpstr>
      <vt:lpstr>RNN - Intuition</vt:lpstr>
      <vt:lpstr>RNN - Intuition</vt:lpstr>
      <vt:lpstr>Gradient Boosting</vt:lpstr>
      <vt:lpstr>Bagging (Bootstrap Aggregation)</vt:lpstr>
      <vt:lpstr>Bagging</vt:lpstr>
      <vt:lpstr>Bias and Variance</vt:lpstr>
      <vt:lpstr>Lets divide the data into training and test data set</vt:lpstr>
      <vt:lpstr>Bias (contd..)</vt:lpstr>
      <vt:lpstr>Calculating SSE (Sum of Squared Errors)</vt:lpstr>
      <vt:lpstr>Variance - We also have a testing set!</vt:lpstr>
      <vt:lpstr>Which ML algorithm to use when?</vt:lpstr>
      <vt:lpstr>Bi-variate Pairplot</vt:lpstr>
      <vt:lpstr>Logistic Regression will work best here!</vt:lpstr>
      <vt:lpstr>Can I apply DT, RF and kNN?</vt:lpstr>
      <vt:lpstr>Which model should work best for this?</vt:lpstr>
      <vt:lpstr>Imbalanced Data set</vt:lpstr>
      <vt:lpstr>Imbalanced Data set</vt:lpstr>
      <vt:lpstr>How to proceed with imbalanced dataset?</vt:lpstr>
      <vt:lpstr>How to proceed with imbalanced dataset?</vt:lpstr>
      <vt:lpstr>How to proceed with imbalanced dataset?</vt:lpstr>
      <vt:lpstr>How to proceed with imbalanced dataset?</vt:lpstr>
      <vt:lpstr>How to proceed with imbalanced dataset?</vt:lpstr>
      <vt:lpstr>Imbalanced datasets examples</vt:lpstr>
      <vt:lpstr>Major ML Techniques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Data Science &amp; Machine Learning</dc:title>
  <dc:creator>Jyoti Kataria</dc:creator>
  <cp:lastModifiedBy>Jyoti Kataria</cp:lastModifiedBy>
  <cp:revision>318</cp:revision>
  <dcterms:created xsi:type="dcterms:W3CDTF">2021-01-12T20:06:31Z</dcterms:created>
  <dcterms:modified xsi:type="dcterms:W3CDTF">2021-03-19T08:43:49Z</dcterms:modified>
</cp:coreProperties>
</file>