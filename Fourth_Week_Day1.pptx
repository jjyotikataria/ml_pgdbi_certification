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96" r:id="rId3"/>
    <p:sldId id="270" r:id="rId4"/>
    <p:sldId id="261" r:id="rId5"/>
    <p:sldId id="311" r:id="rId6"/>
    <p:sldId id="313" r:id="rId7"/>
    <p:sldId id="315" r:id="rId8"/>
    <p:sldId id="312" r:id="rId9"/>
    <p:sldId id="314" r:id="rId10"/>
    <p:sldId id="319" r:id="rId11"/>
    <p:sldId id="316" r:id="rId12"/>
    <p:sldId id="317" r:id="rId13"/>
    <p:sldId id="318" r:id="rId14"/>
    <p:sldId id="294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7" r:id="rId24"/>
    <p:sldId id="308" r:id="rId25"/>
    <p:sldId id="309" r:id="rId26"/>
    <p:sldId id="310" r:id="rId27"/>
    <p:sldId id="278" r:id="rId28"/>
    <p:sldId id="320" r:id="rId29"/>
    <p:sldId id="29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7FAB-7BA6-480D-A02A-8C9C816EC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CA13D-4D88-4695-9853-B54C167B2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A8F97-5702-49C1-996C-77EE3AC3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5B2F8-B0CE-4842-9479-F94F3BCFC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7D7FF-74D7-411B-AD35-C2F24D63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7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887A-EE3E-46F6-95E5-021BE645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69D29-6188-4884-8B92-99A76D4A4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62504-A56E-44A8-9B3B-A3490646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312B5-034A-49D5-896B-A358B7EE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64852-BAF3-4079-A6BE-949ABF5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3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6F75-A8B9-4274-B141-3273482E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E546B-042F-48E6-83B2-36A45D7C6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1FAEE-D09E-47A9-9811-A9A1D063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4A4-DC1F-41C6-B17D-24249C0B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E1D10-DF14-44F6-B688-465141EB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365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18B9-365A-440C-AD89-37556677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5FCE-DCF0-4C4A-9D22-3186D6012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6118E-CB86-4E41-A71A-CF632F8BC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02EE5-79B9-4849-9E71-985FE021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A5434-D4D5-4352-ADD5-EC33B752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1BF3D-0A77-4112-B577-E98EFAD0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59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3F1F-1FE1-4AFB-8CA1-09F2A6C5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5A2FA-B148-493B-998D-FE7B6A92A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3A6B4-1F89-4BC3-AF67-68AE9B573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9798C-C183-46A0-AA5E-CC1FC2E3D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7AEA3-7A57-4FC5-9FEC-F893C36FA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6ECEFE-DA0A-4A18-887D-164990B3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E824C-63FC-4C3C-804D-CE6B8C6D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A016A-6702-4D4C-85D0-338C83F4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67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3434-8CB4-44A5-A4B3-FE19AF6D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6A5B0-29B4-4BBE-A429-1E471F08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EFE7E-5EDB-4440-9014-50CD9132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DBB35-7BBE-47B4-8AF7-169325F3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678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331-E0E3-4CDC-A6B0-C84B082B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2FA3C-814B-4526-8386-6BA453FD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958AB-D53C-4D89-9FBC-FC5F1BFB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88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8593-8644-44CB-952D-F828CB56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66728-CA6C-4D02-8FBB-B67B57AD7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8AC46-98CA-4C95-B3CC-415BF95EA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0CEF9-EDDE-4BA0-A412-DD7A262C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463B4-4200-45A7-BC5E-78F63E29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FA546-51CB-4ADB-8977-6313E82B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1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1F85-F148-418A-9E48-7054012A6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38C77-4630-4632-8CFD-94B37BD21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45E4A-EE04-4095-81DE-C12FE3B02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51911-C33F-4568-B7C5-870D00F9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78273-CB22-4358-B2E9-4023656F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167C1-ED34-4DCA-A207-5EAE8615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47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107A-12FD-40E3-91E6-5C776F44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08CA2-7C44-44CF-9D61-416BBA4A1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DCC61-A71A-4321-9A46-BB44B4A0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C5DEE-4E89-42BF-920F-598C976F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4D994-99C3-4A51-A139-77523E71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0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DCEF8-416C-4D22-86D2-BF848AF74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B76F3-04B7-47CD-A40E-C849B6AB9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C87ED-ABEF-4569-8479-07CEBD89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2BAFB-8F9C-4F2B-A4C1-D91C1EDF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B53C2-5933-4FBE-B265-313DB8B5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16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42475-DAFF-4FF3-A241-D58F8430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2F21C-59D8-4F2E-BC77-128C7150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B296B-77D4-439C-A288-8E7844BFA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5F017-2B8F-4C20-8776-6733081F1DE8}" type="datetimeFigureOut">
              <a:rPr lang="en-IN" smtClean="0"/>
              <a:t>20-02-2021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3578A-290E-41CD-9669-84EB9A8A3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7D94-366F-4B2C-A741-F26A54AA3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77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/diabetes-classification/data" TargetMode="External"/><Relationship Id="rId2" Type="http://schemas.openxmlformats.org/officeDocument/2006/relationships/hyperlink" Target="https://thepythonguru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1CD5-4C7E-4D8D-8E7C-71795565A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: </a:t>
            </a:r>
            <a:br>
              <a:rPr lang="en-US" dirty="0"/>
            </a:br>
            <a:r>
              <a:rPr lang="en-US" dirty="0"/>
              <a:t>Data Science &amp;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AE6CB-2389-4BFA-913F-E2C500FF4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626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Taught by-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Ms. Jyoti Kataria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Bioinformatics Analyst, Medgenome Labs Ltd.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M.Sc. Biotechnology, IIT Bombay</a:t>
            </a:r>
            <a:endParaRPr lang="en-IN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47AB8-663A-4371-AF35-3510B09C33F7}"/>
              </a:ext>
            </a:extLst>
          </p:cNvPr>
          <p:cNvSpPr txBox="1"/>
          <p:nvPr/>
        </p:nvSpPr>
        <p:spPr>
          <a:xfrm>
            <a:off x="3732548" y="3822492"/>
            <a:ext cx="544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Session 4 : Supervised Learning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6066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D4A7-3153-4CD8-BD70-7D0C8B51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Information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8C4D7-7C3D-4A6E-9995-5AC8F7677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Quiz week2 - question 7; its print(a)</a:t>
            </a:r>
          </a:p>
          <a:p>
            <a:r>
              <a:rPr lang="en-US" dirty="0"/>
              <a:t>Week2 and Week3 solutions uploaded for practice questions</a:t>
            </a:r>
          </a:p>
          <a:p>
            <a:r>
              <a:rPr lang="en-US" dirty="0"/>
              <a:t>Python Reference: </a:t>
            </a:r>
            <a:r>
              <a:rPr lang="en-US" dirty="0">
                <a:hlinkClick r:id="rId2"/>
              </a:rPr>
              <a:t>https://thepythonguru.com/</a:t>
            </a:r>
            <a:r>
              <a:rPr lang="en-US" dirty="0"/>
              <a:t>, </a:t>
            </a:r>
            <a:r>
              <a:rPr lang="en-US" dirty="0" err="1"/>
              <a:t>datacamp</a:t>
            </a:r>
            <a:r>
              <a:rPr lang="en-US" dirty="0"/>
              <a:t>, hacker earth, hacker rank</a:t>
            </a:r>
          </a:p>
          <a:p>
            <a:r>
              <a:rPr lang="en-US" dirty="0"/>
              <a:t>Linked in : Add today’s project</a:t>
            </a:r>
          </a:p>
          <a:p>
            <a:r>
              <a:rPr lang="en-US" dirty="0"/>
              <a:t>Class Project Link:</a:t>
            </a:r>
          </a:p>
          <a:p>
            <a:r>
              <a:rPr lang="en-US" dirty="0">
                <a:hlinkClick r:id="rId3"/>
              </a:rPr>
              <a:t>https://www.kaggle.com/c/diabetes-classification/data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63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A01A-80CB-471C-9698-B00AD63C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Rubrics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A99C7-C750-4F40-A83F-BC615405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.pynb file will be the final submission – 60 Marks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Criteria for assessment (Break - up) :</a:t>
            </a:r>
          </a:p>
          <a:p>
            <a:endParaRPr lang="en-US" dirty="0"/>
          </a:p>
          <a:p>
            <a:r>
              <a:rPr lang="en-US" dirty="0"/>
              <a:t>Problem Statement and choosing the model   -  20 M</a:t>
            </a:r>
          </a:p>
          <a:p>
            <a:r>
              <a:rPr lang="en-US" dirty="0"/>
              <a:t>Data Cleaning &amp; Pre-processing steps               -  20 M</a:t>
            </a:r>
          </a:p>
          <a:p>
            <a:r>
              <a:rPr lang="en-US" dirty="0"/>
              <a:t>Results/Performance Metrics                             -  20 M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Best Notebook for the project submission : Certified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50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E66E-9A14-4C63-875B-3C0113DB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892" y="2523710"/>
            <a:ext cx="10515600" cy="1325563"/>
          </a:xfrm>
        </p:spPr>
        <p:txBody>
          <a:bodyPr/>
          <a:lstStyle/>
          <a:p>
            <a:r>
              <a:rPr lang="en-US" dirty="0"/>
              <a:t>Quick recap!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51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946E0-733A-4A80-8EC9-9449F2317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Trees : Classification &amp; Regression both</a:t>
            </a:r>
          </a:p>
          <a:p>
            <a:r>
              <a:rPr lang="en-US" dirty="0"/>
              <a:t>Random Forest : Classification &amp; Regression both</a:t>
            </a:r>
          </a:p>
          <a:p>
            <a:r>
              <a:rPr lang="en-US" dirty="0"/>
              <a:t>Logistic Regression :  Classification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90BF2-CD0E-4DCB-BF3A-2CEDA1AE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Supervised Learning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638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0907C-BC1B-4F1C-A41F-97A62FF0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230DD-C086-4F2B-B932-5DAED6637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425" y="365125"/>
            <a:ext cx="10448033" cy="6127749"/>
          </a:xfrm>
        </p:spPr>
      </p:pic>
    </p:spTree>
    <p:extLst>
      <p:ext uri="{BB962C8B-B14F-4D97-AF65-F5344CB8AC3E}">
        <p14:creationId xmlns:p14="http://schemas.microsoft.com/office/powerpoint/2010/main" val="2833591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7A2E3-5FB6-424F-8957-B6D6B7DD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4D49C-4975-48EC-B7A3-794F3CD40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22301"/>
            <a:ext cx="10083846" cy="49175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C7F9C1-038C-40D7-9CFE-9D0FD438603C}"/>
              </a:ext>
            </a:extLst>
          </p:cNvPr>
          <p:cNvSpPr txBox="1"/>
          <p:nvPr/>
        </p:nvSpPr>
        <p:spPr>
          <a:xfrm>
            <a:off x="1143000" y="5778500"/>
            <a:ext cx="755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Facial recognition on </a:t>
            </a:r>
            <a:r>
              <a:rPr lang="en-US" b="1" dirty="0" err="1"/>
              <a:t>iphones</a:t>
            </a:r>
            <a:r>
              <a:rPr lang="en-US" b="1" dirty="0"/>
              <a:t>; Random forest invoke DT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78018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1DC5-24FA-4EB4-A214-35B69985F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02C08E-F677-488F-B96C-D0C58D861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DAE04-7B85-4E35-9494-E3CA6CAA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322" y="1866682"/>
            <a:ext cx="5229955" cy="31246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DC0DA5-295D-4F89-B644-2745546BE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312" y="1847629"/>
            <a:ext cx="5563376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8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A072-8CB2-4CA5-9361-0496EC6E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05D530-EFC0-4D8E-B4F9-90E9BE8F0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369" y="1838071"/>
            <a:ext cx="6173061" cy="3639058"/>
          </a:xfrm>
        </p:spPr>
      </p:pic>
    </p:spTree>
    <p:extLst>
      <p:ext uri="{BB962C8B-B14F-4D97-AF65-F5344CB8AC3E}">
        <p14:creationId xmlns:p14="http://schemas.microsoft.com/office/powerpoint/2010/main" val="1033544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4D03-EF7F-443C-8EBB-8B57007E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0DEA5C-1D87-49DC-AAFE-8D511D27C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053" y="1476102"/>
            <a:ext cx="6763694" cy="3905795"/>
          </a:xfrm>
        </p:spPr>
      </p:pic>
    </p:spTree>
    <p:extLst>
      <p:ext uri="{BB962C8B-B14F-4D97-AF65-F5344CB8AC3E}">
        <p14:creationId xmlns:p14="http://schemas.microsoft.com/office/powerpoint/2010/main" val="2357184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AECA-7636-4F89-8D99-7072C28B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514565-9585-4298-B47B-7842B93B2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1852" y="2880318"/>
            <a:ext cx="5096586" cy="28769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18F27B-8372-41EA-BB10-C6252834955F}"/>
              </a:ext>
            </a:extLst>
          </p:cNvPr>
          <p:cNvSpPr txBox="1"/>
          <p:nvPr/>
        </p:nvSpPr>
        <p:spPr>
          <a:xfrm>
            <a:off x="939800" y="1690688"/>
            <a:ext cx="45592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="1" dirty="0"/>
              <a:t>Ensemble Learning  </a:t>
            </a:r>
          </a:p>
          <a:p>
            <a:pPr marL="342900" indent="-342900">
              <a:buFontTx/>
              <a:buChar char="-"/>
            </a:pPr>
            <a:endParaRPr lang="en-US" sz="2000" b="1" dirty="0"/>
          </a:p>
          <a:p>
            <a:pPr marL="342900" indent="-342900">
              <a:buFontTx/>
              <a:buChar char="-"/>
            </a:pPr>
            <a:r>
              <a:rPr lang="en-US" sz="2000" b="1" dirty="0"/>
              <a:t>Running decision trees multiple times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6436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0099-80E5-42D0-951E-5EBEA30F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BC419-D8D5-442C-A670-5C25A886D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60400"/>
            <a:ext cx="10355476" cy="5015933"/>
          </a:xfrm>
        </p:spPr>
      </p:pic>
    </p:spTree>
    <p:extLst>
      <p:ext uri="{BB962C8B-B14F-4D97-AF65-F5344CB8AC3E}">
        <p14:creationId xmlns:p14="http://schemas.microsoft.com/office/powerpoint/2010/main" val="126696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F642-7D5B-464D-9FFB-8267AEFF9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369D0-2690-4F56-ADD7-99CDD2CAE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00137"/>
            <a:ext cx="10515600" cy="4351338"/>
          </a:xfrm>
        </p:spPr>
        <p:txBody>
          <a:bodyPr/>
          <a:lstStyle/>
          <a:p>
            <a:r>
              <a:rPr lang="en-US" dirty="0"/>
              <a:t>Power of numbers</a:t>
            </a:r>
          </a:p>
          <a:p>
            <a:r>
              <a:rPr lang="en-US" dirty="0"/>
              <a:t>Leveraging the power of single decision trees</a:t>
            </a:r>
          </a:p>
          <a:p>
            <a:r>
              <a:rPr lang="en-US" dirty="0"/>
              <a:t>Biologically; gene classification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1EBE6-35A2-42BE-9CC5-A810BFB9D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469"/>
            <a:ext cx="6268325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73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1541-5F92-41D7-8F71-D0F33BE3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– Classification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454D7-684E-46E6-932F-64630CDD2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Name : Logistic Regression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E0F45-71A7-49DD-AC9A-69949EF42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13" y="2513076"/>
            <a:ext cx="7497221" cy="279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7B828-93AE-43D5-818F-19CEB8C18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83" y="4481819"/>
            <a:ext cx="7602011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00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4333-2A15-4767-897C-BED1DA06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(contd..)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60BEB-26C1-46FF-9F6B-922BEA192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762" y="2001736"/>
            <a:ext cx="5068007" cy="241016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06D219-6A0C-4AF7-8674-E03B38EAC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313" y="2038852"/>
            <a:ext cx="3458058" cy="179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FAEC91-7416-47C0-AFCF-6C9285381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048" y="4746606"/>
            <a:ext cx="5096586" cy="1771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623860-70AE-4D76-9CB5-315B83F9005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53"/>
          <a:stretch/>
        </p:blipFill>
        <p:spPr>
          <a:xfrm>
            <a:off x="5473860" y="2263514"/>
            <a:ext cx="2953162" cy="1565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82F2FD-7E6B-4724-88D4-127213BCC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864" y="2219295"/>
            <a:ext cx="6335009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4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3330F-C046-4324-9D89-9EDA19E06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Applying linear regression to a classification problem doesn’t look like a good idea</a:t>
            </a:r>
          </a:p>
          <a:p>
            <a:r>
              <a:rPr lang="en-US" dirty="0"/>
              <a:t>But sometimes, it may get lucky!</a:t>
            </a:r>
          </a:p>
          <a:p>
            <a:r>
              <a:rPr lang="en-US" dirty="0"/>
              <a:t>Prefer not using it!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14F4B2-4074-4E3B-B636-128E784D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Logistic Regression (contd..)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26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5A4A4-26FC-4588-9882-BE2D9DAF9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It is a table with 4 different combinations of predicted and actual values</a:t>
            </a:r>
          </a:p>
          <a:p>
            <a:pPr marL="0" indent="0">
              <a:buNone/>
            </a:pPr>
            <a:endParaRPr lang="en-US" dirty="0">
              <a:solidFill>
                <a:srgbClr val="292929"/>
              </a:solidFill>
              <a:latin typeface="charter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DC9C78-4619-4CD5-A64C-C078BCF4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Logistic Regression : Performance Matrix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49BAF-BA66-424C-B856-444C0F3CA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367" y="3027919"/>
            <a:ext cx="5253780" cy="3448871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32AB8F6-60C3-4345-B02E-9C7AC17F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437" y="3000897"/>
            <a:ext cx="4738564" cy="364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56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3FDA50-7E35-4F9F-A98B-DAA8FE4A6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422" y="2261197"/>
            <a:ext cx="5416786" cy="3937884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21FEB23-0D17-4AA2-8C13-E934EBEDADBF}"/>
              </a:ext>
            </a:extLst>
          </p:cNvPr>
          <p:cNvSpPr txBox="1">
            <a:spLocks/>
          </p:cNvSpPr>
          <p:nvPr/>
        </p:nvSpPr>
        <p:spPr>
          <a:xfrm>
            <a:off x="870679" y="14619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Lets take pregnancy example:</a:t>
            </a:r>
          </a:p>
          <a:p>
            <a:endParaRPr lang="en-US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614021-5B36-4E50-B6B3-28F9BB0C8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802" y="1022195"/>
            <a:ext cx="4572638" cy="2715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DAABC5-3B27-4A4E-B370-8F127AB6D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313" y="4009995"/>
            <a:ext cx="4353533" cy="270547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4655CA-1226-484F-B487-D9B8B4856D59}"/>
              </a:ext>
            </a:extLst>
          </p:cNvPr>
          <p:cNvSpPr txBox="1">
            <a:spLocks/>
          </p:cNvSpPr>
          <p:nvPr/>
        </p:nvSpPr>
        <p:spPr>
          <a:xfrm>
            <a:off x="0" y="112793"/>
            <a:ext cx="120371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Logistic Regression : Performance Matrix (contd..)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4F1BB3-49BA-4689-8D4F-ACDD8F2757DF}"/>
              </a:ext>
            </a:extLst>
          </p:cNvPr>
          <p:cNvSpPr txBox="1"/>
          <p:nvPr/>
        </p:nvSpPr>
        <p:spPr>
          <a:xfrm>
            <a:off x="1803400" y="3292944"/>
            <a:ext cx="1905000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COVID+</a:t>
            </a:r>
          </a:p>
          <a:p>
            <a:endParaRPr lang="en-US" b="1" dirty="0"/>
          </a:p>
          <a:p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74734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3D7C24-94F4-416D-B230-D312254D3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890" y="1662278"/>
            <a:ext cx="5065110" cy="1766722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3E212F1-DCC4-4583-841D-BFE8B081D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60" y="320155"/>
            <a:ext cx="11353800" cy="1325563"/>
          </a:xfrm>
        </p:spPr>
        <p:txBody>
          <a:bodyPr/>
          <a:lstStyle/>
          <a:p>
            <a:r>
              <a:rPr lang="en-US" dirty="0"/>
              <a:t>Logistic Regression : Performance Matrix (contd..)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E0D74A-A5F2-4706-8148-98C335813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27" y="3949886"/>
            <a:ext cx="5410955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6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B1EC-3068-4353-BBF4-031D748B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242" y="372467"/>
            <a:ext cx="10515600" cy="1325563"/>
          </a:xfrm>
        </p:spPr>
        <p:txBody>
          <a:bodyPr/>
          <a:lstStyle/>
          <a:p>
            <a:r>
              <a:rPr lang="en-US" dirty="0"/>
              <a:t>Recall, Precision, Accuracy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902C1E-0DDC-4EA0-A675-5E1FD8088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990" y="1592767"/>
            <a:ext cx="5733120" cy="23504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5530B-091C-4C67-BF65-537454629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42" y="4265801"/>
            <a:ext cx="5077534" cy="2133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A5841F-8A08-4350-AF1A-04C621999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264" y="5289478"/>
            <a:ext cx="5163271" cy="1028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A0F0D0-F5DB-47E7-81F4-332F37562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527" y="1968686"/>
            <a:ext cx="5410955" cy="24958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3A9D79-7185-42B8-A863-4C28A597D7EE}"/>
              </a:ext>
            </a:extLst>
          </p:cNvPr>
          <p:cNvSpPr txBox="1"/>
          <p:nvPr/>
        </p:nvSpPr>
        <p:spPr>
          <a:xfrm>
            <a:off x="1473200" y="1592767"/>
            <a:ext cx="407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True Positive Rate = Sensitivity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58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22A9-663D-4866-96B6-E6D011AA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1404C-7E78-472E-9CF0-39D378283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reduce False positive and False Negative errors wherever we can!</a:t>
            </a:r>
          </a:p>
          <a:p>
            <a:r>
              <a:rPr lang="en-US" dirty="0"/>
              <a:t>Example – Spam classifier (FP)</a:t>
            </a:r>
          </a:p>
          <a:p>
            <a:r>
              <a:rPr lang="en-US" dirty="0"/>
              <a:t>Cancer (FN)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EBD1D-4471-4F03-A373-3D8B92665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726844"/>
            <a:ext cx="4764447" cy="312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29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1827-F78B-4DCE-9B03-660765A58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55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AUC – ROC Curve</a:t>
            </a:r>
            <a:br>
              <a:rPr lang="en-US" dirty="0"/>
            </a:br>
            <a:br>
              <a:rPr lang="en-US" dirty="0"/>
            </a:br>
            <a:r>
              <a:rPr lang="en-US" sz="2700" b="0" i="0" dirty="0">
                <a:solidFill>
                  <a:srgbClr val="292929"/>
                </a:solidFill>
                <a:effectLst/>
                <a:latin typeface="charter"/>
              </a:rPr>
              <a:t>AUC - ROC curve is a performance measurement for the classification problems at various threshold settings</a:t>
            </a:r>
            <a:br>
              <a:rPr lang="en-US" sz="2700" b="0" i="0" dirty="0">
                <a:solidFill>
                  <a:srgbClr val="292929"/>
                </a:solidFill>
                <a:effectLst/>
                <a:latin typeface="charter"/>
              </a:rPr>
            </a:br>
            <a:r>
              <a:rPr lang="en-US" sz="2700" b="0" i="0" dirty="0">
                <a:solidFill>
                  <a:srgbClr val="292929"/>
                </a:solidFill>
                <a:effectLst/>
                <a:latin typeface="charter"/>
              </a:rPr>
              <a:t>ROC is a probability curve and AUC represents the degree or measure of separability</a:t>
            </a:r>
            <a:br>
              <a:rPr lang="en-US" sz="2700" b="0" i="0" dirty="0">
                <a:solidFill>
                  <a:srgbClr val="292929"/>
                </a:solidFill>
                <a:effectLst/>
                <a:latin typeface="charter"/>
              </a:rPr>
            </a:br>
            <a:br>
              <a:rPr lang="en-US" sz="2700" b="0" i="0" dirty="0">
                <a:solidFill>
                  <a:srgbClr val="292929"/>
                </a:solidFill>
                <a:effectLst/>
                <a:latin typeface="charter"/>
              </a:rPr>
            </a:br>
            <a:endParaRPr lang="en-IN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330F97FC-F02A-448B-9898-B77ECF5E7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1975" y="2337360"/>
            <a:ext cx="5191850" cy="3353268"/>
          </a:xfrm>
        </p:spPr>
      </p:pic>
    </p:spTree>
    <p:extLst>
      <p:ext uri="{BB962C8B-B14F-4D97-AF65-F5344CB8AC3E}">
        <p14:creationId xmlns:p14="http://schemas.microsoft.com/office/powerpoint/2010/main" val="423713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5412-B0A8-4659-A23E-006C88C1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8AE72-3B9F-4FA6-AE20-0A10DC52F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" b="830"/>
          <a:stretch/>
        </p:blipFill>
        <p:spPr>
          <a:xfrm>
            <a:off x="622301" y="377149"/>
            <a:ext cx="6542456" cy="5248952"/>
          </a:xfrm>
        </p:spPr>
      </p:pic>
    </p:spTree>
    <p:extLst>
      <p:ext uri="{BB962C8B-B14F-4D97-AF65-F5344CB8AC3E}">
        <p14:creationId xmlns:p14="http://schemas.microsoft.com/office/powerpoint/2010/main" val="2116079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7A20-5FB7-4D77-ACF3-A4B4405D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scenario!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2D47C4-4767-46AD-8303-A88254033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514" y="1464260"/>
            <a:ext cx="9288171" cy="2991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0F835-81DB-4665-91FA-8C13B7F2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880" y="4494152"/>
            <a:ext cx="5477639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40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0172-CBF1-46D4-9201-70D0BE65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Usual scenario!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B8D7B4-F7EA-40DC-B029-E1EC5EA5A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877" y="1638897"/>
            <a:ext cx="9459645" cy="28197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7046CD-FF58-4ABF-97AD-B5152C6EC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364" y="4470325"/>
            <a:ext cx="5525271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51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5F04-2BD8-4B93-92C6-328A56AD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scenario!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50B949-E724-4662-BEBD-CFE94FB2F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3794" y="1667455"/>
            <a:ext cx="8507012" cy="30674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C57D9C-69A0-46ED-BB8C-47CEEB6E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543" y="4798952"/>
            <a:ext cx="6011114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27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C06D-328E-4BC4-9B6F-641CC743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revise!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4C25-E5D0-4639-86DA-1024B686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  <a:p>
            <a:r>
              <a:rPr lang="en-US" dirty="0"/>
              <a:t>Random Forest; Ensemble Learning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Recall, Precision, Accuracy, ROC-AUC Curve</a:t>
            </a:r>
          </a:p>
          <a:p>
            <a:r>
              <a:rPr lang="en-US" dirty="0"/>
              <a:t>Bar plot with pandas</a:t>
            </a:r>
          </a:p>
          <a:p>
            <a:r>
              <a:rPr lang="en-US" dirty="0"/>
              <a:t>Correlation Plot; multi-collinearity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960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05C6-61B5-40AB-A467-7DC18EF1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A881E-269B-4FC5-A75B-BA085E7A8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7468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1274-B304-4708-922B-899103B8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0C36-9A7F-4AE2-9F0E-AEB036EC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4000" dirty="0"/>
              <a:t>                                    Thank you </a:t>
            </a:r>
            <a:r>
              <a:rPr lang="en-US" sz="4000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7705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4700</TotalTime>
  <Words>420</Words>
  <Application>Microsoft Office PowerPoint</Application>
  <PresentationFormat>Widescreen</PresentationFormat>
  <Paragraphs>81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charter</vt:lpstr>
      <vt:lpstr>Office Theme</vt:lpstr>
      <vt:lpstr>Module :  Data Science &amp; Machine Learning</vt:lpstr>
      <vt:lpstr>Important Information</vt:lpstr>
      <vt:lpstr>Project Rubrics</vt:lpstr>
      <vt:lpstr>Quick recap!</vt:lpstr>
      <vt:lpstr>Supervised Learning :</vt:lpstr>
      <vt:lpstr>PowerPoint Presentation</vt:lpstr>
      <vt:lpstr>PowerPoint Presentation</vt:lpstr>
      <vt:lpstr>Decision Trees</vt:lpstr>
      <vt:lpstr>Decision Trees</vt:lpstr>
      <vt:lpstr>Decision Trees</vt:lpstr>
      <vt:lpstr>Random Forest</vt:lpstr>
      <vt:lpstr>PowerPoint Presentation</vt:lpstr>
      <vt:lpstr>PowerPoint Presentation</vt:lpstr>
      <vt:lpstr>Supervised Learning – Classification Problem</vt:lpstr>
      <vt:lpstr>Logistic Regression (contd..)</vt:lpstr>
      <vt:lpstr>Logistic Regression (contd..)</vt:lpstr>
      <vt:lpstr>Logistic Regression : Performance Matrix</vt:lpstr>
      <vt:lpstr>PowerPoint Presentation</vt:lpstr>
      <vt:lpstr>Logistic Regression : Performance Matrix (contd..)</vt:lpstr>
      <vt:lpstr>Recall, Precision, Accuracy </vt:lpstr>
      <vt:lpstr>Important points!</vt:lpstr>
      <vt:lpstr>AUC – ROC Curve  AUC - ROC curve is a performance measurement for the classification problems at various threshold settings ROC is a probability curve and AUC represents the degree or measure of separability  </vt:lpstr>
      <vt:lpstr>PowerPoint Presentation</vt:lpstr>
      <vt:lpstr>Ideal scenario!</vt:lpstr>
      <vt:lpstr>Usual scenario!</vt:lpstr>
      <vt:lpstr>Worst scenario!</vt:lpstr>
      <vt:lpstr>Let’s revise!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Data Science &amp; Machine Learning</dc:title>
  <dc:creator>Jyoti Kataria</dc:creator>
  <cp:lastModifiedBy>Jyoti Kataria</cp:lastModifiedBy>
  <cp:revision>74</cp:revision>
  <dcterms:created xsi:type="dcterms:W3CDTF">2021-01-12T20:06:31Z</dcterms:created>
  <dcterms:modified xsi:type="dcterms:W3CDTF">2021-02-21T03:54:01Z</dcterms:modified>
</cp:coreProperties>
</file>